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942975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838200"/>
            <a:ext cx="4671268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650" b="1" spc="264">
                <a:solidFill>
                  <a:srgbClr val="1657D0"/>
                </a:solidFill>
                <a:latin typeface="Figtree"/>
              </a:rPr>
              <a:t xml:space="preserve">EL DETALLE · DESARROLLO WEB</a:t>
            </a:r>
          </a:p>
        </p:txBody>
      </p:sp>
      <p:sp>
        <p:nvSpPr>
          <p:cNvPr id="4" name="Rectangle 3"/>
          <p:cNvSpPr/>
          <p:nvPr/>
        </p:nvSpPr>
        <p:spPr>
          <a:xfrm>
            <a:off x="2056209" y="5848504"/>
            <a:ext cx="3849141" cy="253746"/>
          </a:xfrm>
          <a:prstGeom prst="rect">
            <a:avLst/>
          </a:prstGeom>
          <a:solidFill>
            <a:srgbClr val="A8E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4602360"/>
            <a:ext cx="9182100" cy="22327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En la web de TonCars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hay </a:t>
            </a: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diez botones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de WhatsApp.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7101780"/>
            <a:ext cx="8153400" cy="10498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33"/>
              </a:lnSpc>
            </a:pPr>
            <a:r>
              <a:rPr sz="2700" b="0">
                <a:solidFill>
                  <a:srgbClr val="46526B"/>
                </a:solidFill>
                <a:latin typeface="Figtree"/>
              </a:rPr>
              <a:t xml:space="preserve">No es un error. Es la decisión que más cambió las consultas que le entran.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09700" y="11682412"/>
            <a:ext cx="3168848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>
                <a:solidFill>
                  <a:srgbClr val="6B7690"/>
                </a:solidFill>
                <a:latin typeface="Figtree"/>
              </a:rPr>
              <a:t xml:space="preserve">tunegocioenlasredes.com.ar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1494" y="11663362"/>
            <a:ext cx="20645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DESLIZÁ </a:t>
            </a: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8985" y="11682412"/>
            <a:ext cx="1471314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 spc="283">
                <a:solidFill>
                  <a:srgbClr val="6B7690"/>
                </a:solidFill>
                <a:latin typeface="Figtree"/>
              </a:rPr>
              <a:t xml:space="preserve"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942975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838200"/>
            <a:ext cx="3871317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650" b="1" spc="264">
                <a:solidFill>
                  <a:srgbClr val="1657D0"/>
                </a:solidFill>
                <a:latin typeface="Figtree"/>
              </a:rPr>
              <a:t xml:space="preserve">LA IDEA QUE SUENA BIEN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4602360"/>
            <a:ext cx="9182100" cy="22327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«Con un botón alcanza.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El que quiere escribir,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lo busca.»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7101780"/>
            <a:ext cx="8153400" cy="10498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33"/>
              </a:lnSpc>
            </a:pPr>
            <a:r>
              <a:rPr sz="2700" b="0">
                <a:solidFill>
                  <a:srgbClr val="46526B"/>
                </a:solidFill>
                <a:latin typeface="Figtree"/>
              </a:rPr>
              <a:t xml:space="preserve">Suena razonable. Es la frase que más consultas hace perder.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09700" y="11682412"/>
            <a:ext cx="3168848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>
                <a:solidFill>
                  <a:srgbClr val="6B7690"/>
                </a:solidFill>
                <a:latin typeface="Figtree"/>
              </a:rPr>
              <a:t xml:space="preserve">tunegocioenlasredes.com.ar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15719" y="11663362"/>
            <a:ext cx="20645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DESLIZÁ </a:t>
            </a: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7433" y="11682412"/>
            <a:ext cx="1502717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 spc="283">
                <a:solidFill>
                  <a:srgbClr val="6B7690"/>
                </a:solidFill>
                <a:latin typeface="Figtree"/>
              </a:rPr>
              <a:t xml:space="preserve"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942975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838200"/>
            <a:ext cx="2196256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650" b="1" spc="264">
                <a:solidFill>
                  <a:srgbClr val="1657D0"/>
                </a:solidFill>
                <a:latin typeface="Figtree"/>
              </a:rPr>
              <a:t xml:space="preserve">POR QUÉ NO</a:t>
            </a:r>
          </a:p>
        </p:txBody>
      </p:sp>
      <p:sp>
        <p:nvSpPr>
          <p:cNvPr id="4" name="Rectangle 3"/>
          <p:cNvSpPr/>
          <p:nvPr/>
        </p:nvSpPr>
        <p:spPr>
          <a:xfrm>
            <a:off x="4457700" y="6080527"/>
            <a:ext cx="1937593" cy="253746"/>
          </a:xfrm>
          <a:prstGeom prst="rect">
            <a:avLst/>
          </a:prstGeom>
          <a:solidFill>
            <a:srgbClr val="A8E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4115544"/>
            <a:ext cx="9182100" cy="22327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Nadie decide escribir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al principio.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Decide en el </a:t>
            </a: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medio</a:t>
            </a: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6614963"/>
            <a:ext cx="8153400" cy="20234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33"/>
              </a:lnSpc>
            </a:pPr>
            <a:r>
              <a:rPr sz="2700" b="0">
                <a:solidFill>
                  <a:srgbClr val="46526B"/>
                </a:solidFill>
                <a:latin typeface="Figtree"/>
              </a:rPr>
              <a:t xml:space="preserve">La persona se convence mirando una unidad puntual: el año, el kilometraje, si le toman el suyo en parte de pago. Y eso pasa scrolleando, lejos del encabezado.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09700" y="11682412"/>
            <a:ext cx="3168848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>
                <a:solidFill>
                  <a:srgbClr val="6B7690"/>
                </a:solidFill>
                <a:latin typeface="Figtree"/>
              </a:rPr>
              <a:t xml:space="preserve">tunegocioenlasredes.com.ar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18100" y="11663362"/>
            <a:ext cx="20645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DESLIZÁ </a:t>
            </a: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22196" y="11682412"/>
            <a:ext cx="1498103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 spc="283">
                <a:solidFill>
                  <a:srgbClr val="6B7690"/>
                </a:solidFill>
                <a:latin typeface="Figtree"/>
              </a:rPr>
              <a:t xml:space="preserve"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8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942975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838200"/>
            <a:ext cx="1828204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650" b="1" spc="264">
                <a:solidFill>
                  <a:srgbClr val="8FD8F5"/>
                </a:solidFill>
                <a:latin typeface="Figtree"/>
              </a:rPr>
              <a:t xml:space="preserve">LA REGLA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4912072"/>
            <a:ext cx="5181600" cy="18246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590"/>
              </a:lnSpc>
            </a:pPr>
            <a:r>
              <a:rPr sz="4500" b="1" spc="-135">
                <a:solidFill>
                  <a:srgbClr val="FFFFFF"/>
                </a:solidFill>
                <a:latin typeface="Bricolage Grotesque"/>
              </a:rPr>
              <a:t xml:space="preserve">El botón va</a:t>
            </a:r>
          </a:p>
          <a:p>
            <a:pPr algn="l">
              <a:lnSpc>
                <a:spcPts val="4590"/>
              </a:lnSpc>
            </a:pPr>
            <a:r>
              <a:rPr sz="4500" b="1" spc="-135">
                <a:solidFill>
                  <a:srgbClr val="FFFFFF"/>
                </a:solidFill>
                <a:latin typeface="Bricolage Grotesque"/>
              </a:rPr>
              <a:t xml:space="preserve">donde aparece</a:t>
            </a:r>
          </a:p>
          <a:p>
            <a:pPr algn="l">
              <a:lnSpc>
                <a:spcPts val="4590"/>
              </a:lnSpc>
            </a:pPr>
            <a:r>
              <a:rPr sz="4500" b="1" spc="-135">
                <a:solidFill>
                  <a:srgbClr val="FFFFFF"/>
                </a:solidFill>
                <a:latin typeface="Bricolage Grotesque"/>
              </a:rPr>
              <a:t xml:space="preserve">la </a:t>
            </a:r>
            <a:r>
              <a:rPr sz="4500" b="1" spc="-135">
                <a:solidFill>
                  <a:srgbClr val="63C8F2"/>
                </a:solidFill>
                <a:latin typeface="Bricolage Grotesque"/>
              </a:rPr>
              <a:t xml:space="preserve">decisión</a:t>
            </a:r>
            <a:r>
              <a:rPr sz="4500" b="1" spc="-135">
                <a:solidFill>
                  <a:srgbClr val="FFFFFF"/>
                </a:solidFill>
                <a:latin typeface="Bricolage Grotesque"/>
              </a:rPr>
              <a:t xml:space="preserve"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6927205"/>
            <a:ext cx="4667250" cy="9146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01"/>
              </a:lnSpc>
            </a:pPr>
            <a:r>
              <a:rPr sz="2325" b="0">
                <a:solidFill>
                  <a:srgbClr val="B9CFE8"/>
                </a:solidFill>
                <a:latin typeface="Figtree"/>
              </a:rPr>
              <a:t xml:space="preserve">No donde nos queda cómodo a nosotros.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2909887"/>
            <a:ext cx="34290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09700" y="11682412"/>
            <a:ext cx="3168848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>
                <a:solidFill>
                  <a:srgbClr val="8FA9C8"/>
                </a:solidFill>
                <a:latin typeface="Figtree"/>
              </a:rPr>
              <a:t xml:space="preserve">tunegocioenlasredes.com.ar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10361" y="11663362"/>
            <a:ext cx="20645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800" b="1" spc="252">
                <a:solidFill>
                  <a:srgbClr val="8FD8F5"/>
                </a:solidFill>
                <a:latin typeface="Figtree"/>
              </a:rPr>
              <a:t xml:space="preserve">DESLIZÁ </a:t>
            </a:r>
            <a:r>
              <a:rPr sz="1800" b="1" spc="252">
                <a:solidFill>
                  <a:srgbClr val="8FD8F5"/>
                </a:solidFill>
                <a:latin typeface="Figtree"/>
              </a:rPr>
              <a:t xml:space="preserve">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6717" y="11682412"/>
            <a:ext cx="1513433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 spc="283">
                <a:solidFill>
                  <a:srgbClr val="8FA9C8"/>
                </a:solidFill>
                <a:latin typeface="Figtree"/>
              </a:rPr>
              <a:t xml:space="preserve"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942975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838200"/>
            <a:ext cx="3930848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650" b="1" spc="264">
                <a:solidFill>
                  <a:srgbClr val="1657D0"/>
                </a:solidFill>
                <a:latin typeface="Figtree"/>
              </a:rPr>
              <a:t xml:space="preserve">EL DETALLE QUE IMPORTA</a:t>
            </a:r>
          </a:p>
        </p:txBody>
      </p:sp>
      <p:sp>
        <p:nvSpPr>
          <p:cNvPr id="4" name="Rectangle 3"/>
          <p:cNvSpPr/>
          <p:nvPr/>
        </p:nvSpPr>
        <p:spPr>
          <a:xfrm>
            <a:off x="1482476" y="6080527"/>
            <a:ext cx="2120205" cy="253746"/>
          </a:xfrm>
          <a:prstGeom prst="rect">
            <a:avLst/>
          </a:prstGeom>
          <a:solidFill>
            <a:srgbClr val="A8E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4115544"/>
            <a:ext cx="9182100" cy="22327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Los diez botones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no dicen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lo </a:t>
            </a: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mismo</a:t>
            </a: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6614963"/>
            <a:ext cx="8153400" cy="20234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33"/>
              </a:lnSpc>
            </a:pPr>
            <a:r>
              <a:rPr sz="2700" b="0">
                <a:solidFill>
                  <a:srgbClr val="46526B"/>
                </a:solidFill>
                <a:latin typeface="Figtree"/>
              </a:rPr>
              <a:t xml:space="preserve">El de la ficha de un auto abre el chat con ese vehículo ya escrito en el mensaje. El del encabezado no puede hacer eso: todavía no sabe qué está mirando.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09700" y="11682412"/>
            <a:ext cx="3168848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>
                <a:solidFill>
                  <a:srgbClr val="6B7690"/>
                </a:solidFill>
                <a:latin typeface="Figtree"/>
              </a:rPr>
              <a:t xml:space="preserve">tunegocioenlasredes.com.ar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15570" y="11663362"/>
            <a:ext cx="20645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DESLIZÁ </a:t>
            </a: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17135" y="11682412"/>
            <a:ext cx="1503015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 spc="283">
                <a:solidFill>
                  <a:srgbClr val="6B7690"/>
                </a:solidFill>
                <a:latin typeface="Figtree"/>
              </a:rPr>
              <a:t xml:space="preserve"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942975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838200"/>
            <a:ext cx="2212627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650" b="1" spc="264">
                <a:solidFill>
                  <a:srgbClr val="1657D0"/>
                </a:solidFill>
                <a:latin typeface="Figtree"/>
              </a:rPr>
              <a:t xml:space="preserve">QUÉ CAMBIA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3872358"/>
            <a:ext cx="9182100" cy="15138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Cambia el mensaje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que te entra.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8200" y="5824388"/>
            <a:ext cx="8610600" cy="1385738"/>
          </a:xfrm>
          <a:prstGeom prst="roundRect">
            <a:avLst>
              <a:gd name="adj" fmla="val 13747"/>
            </a:avLst>
          </a:prstGeom>
          <a:solidFill>
            <a:srgbClr val="E7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8200" y="7419677"/>
            <a:ext cx="8610600" cy="1385738"/>
          </a:xfrm>
          <a:prstGeom prst="roundRect">
            <a:avLst>
              <a:gd name="adj" fmla="val 13747"/>
            </a:avLst>
          </a:prstGeom>
          <a:solidFill>
            <a:srgbClr val="16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1100" y="6129188"/>
            <a:ext cx="8496300" cy="3362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47"/>
              </a:lnSpc>
            </a:pPr>
            <a:r>
              <a:rPr sz="1575" b="1" spc="252">
                <a:solidFill>
                  <a:srgbClr val="46526B"/>
                </a:solidFill>
                <a:latin typeface="Figtree"/>
              </a:rPr>
              <a:t xml:space="preserve">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7724477"/>
            <a:ext cx="8496300" cy="3362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47"/>
              </a:lnSpc>
            </a:pPr>
            <a:r>
              <a:rPr sz="1575" b="1" spc="252">
                <a:solidFill>
                  <a:srgbClr val="FFFFFF"/>
                </a:solidFill>
                <a:latin typeface="Figtree"/>
              </a:rPr>
              <a:t xml:space="preserve">AHORA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6493966"/>
            <a:ext cx="3202781" cy="466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15"/>
              </a:lnSpc>
            </a:pPr>
            <a:r>
              <a:rPr sz="2550" b="0">
                <a:solidFill>
                  <a:srgbClr val="46526B"/>
                </a:solidFill>
                <a:latin typeface="Figtree"/>
              </a:rPr>
              <a:t xml:space="preserve">«Hola, ¿cuánto sale?»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100" y="8089255"/>
            <a:ext cx="7943254" cy="466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15"/>
              </a:lnSpc>
            </a:pPr>
            <a:r>
              <a:rPr sz="2550" b="1">
                <a:solidFill>
                  <a:srgbClr val="FFFFFF"/>
                </a:solidFill>
                <a:latin typeface="Figtree"/>
              </a:rPr>
              <a:t xml:space="preserve">El modelo y el año ya escritos, y la pregunta concreta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09700" y="11682412"/>
            <a:ext cx="3168848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>
                <a:solidFill>
                  <a:srgbClr val="6B7690"/>
                </a:solidFill>
                <a:latin typeface="Figtree"/>
              </a:rPr>
              <a:t xml:space="preserve">tunegocioenlasredes.com.ar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15719" y="11663362"/>
            <a:ext cx="20645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DESLIZÁ </a:t>
            </a: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7433" y="11682412"/>
            <a:ext cx="1502866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 spc="283">
                <a:solidFill>
                  <a:srgbClr val="6B7690"/>
                </a:solidFill>
                <a:latin typeface="Figtree"/>
              </a:rPr>
              <a:t xml:space="preserve"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942975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838200"/>
            <a:ext cx="3853755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650" b="1" spc="264">
                <a:solidFill>
                  <a:srgbClr val="1657D0"/>
                </a:solidFill>
                <a:latin typeface="Figtree"/>
              </a:rPr>
              <a:t xml:space="preserve">LA REGLA, EN UNA LÍNEA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4602360"/>
            <a:ext cx="9182100" cy="22327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Un botón por momento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de decisión.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No uno por página.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7101780"/>
            <a:ext cx="8153400" cy="10498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33"/>
              </a:lnSpc>
            </a:pPr>
            <a:r>
              <a:rPr sz="2700" b="0">
                <a:solidFill>
                  <a:srgbClr val="46526B"/>
                </a:solidFill>
                <a:latin typeface="Figtree"/>
              </a:rPr>
              <a:t xml:space="preserve">Si la persona tuvo que volver hasta arriba para escribirte, ya la perdiste.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09700" y="11682412"/>
            <a:ext cx="3168848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>
                <a:solidFill>
                  <a:srgbClr val="6B7690"/>
                </a:solidFill>
                <a:latin typeface="Figtree"/>
              </a:rPr>
              <a:t xml:space="preserve">tunegocioenlasredes.com.ar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18100" y="11663362"/>
            <a:ext cx="20645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DESLIZÁ </a:t>
            </a: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22196" y="11682412"/>
            <a:ext cx="1498103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 spc="283">
                <a:solidFill>
                  <a:srgbClr val="6B7690"/>
                </a:solidFill>
                <a:latin typeface="Figtree"/>
              </a:rPr>
              <a:t xml:space="preserve"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8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942975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838200"/>
            <a:ext cx="2835175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650" b="1" spc="264">
                <a:solidFill>
                  <a:srgbClr val="8FD8F5"/>
                </a:solidFill>
                <a:latin typeface="Figtree"/>
              </a:rPr>
              <a:t xml:space="preserve">PROBÁ ESTO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4065835"/>
            <a:ext cx="9182100" cy="15138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FFFFFF"/>
                </a:solidFill>
                <a:latin typeface="Bricolage Grotesque"/>
              </a:rPr>
              <a:t xml:space="preserve">Abrí tu web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FFFFFF"/>
                </a:solidFill>
                <a:latin typeface="Bricolage Grotesque"/>
              </a:rPr>
              <a:t xml:space="preserve">y contá los </a:t>
            </a:r>
            <a:r>
              <a:rPr sz="5550" b="1" spc="-166">
                <a:solidFill>
                  <a:srgbClr val="63C8F2"/>
                </a:solidFill>
                <a:latin typeface="Bricolage Grotesque"/>
              </a:rPr>
              <a:t xml:space="preserve">botones</a:t>
            </a:r>
            <a:r>
              <a:rPr sz="5550" b="1" spc="-166">
                <a:solidFill>
                  <a:srgbClr val="FFFFFF"/>
                </a:solidFill>
                <a:latin typeface="Bricolage Grotesque"/>
              </a:rPr>
              <a:t xml:space="preserve"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5846415"/>
            <a:ext cx="8153400" cy="1536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33"/>
              </a:lnSpc>
            </a:pPr>
            <a:r>
              <a:rPr sz="2700" b="0">
                <a:solidFill>
                  <a:srgbClr val="B9CFE8"/>
                </a:solidFill>
                <a:latin typeface="Figtree"/>
              </a:rPr>
              <a:t xml:space="preserve">Si hay uno solo y está arriba de todo, escribinos. Te mostramos cómo quedaría la tuya andando en 72 hs, gratis.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8200" y="7725965"/>
            <a:ext cx="2595116" cy="885825"/>
          </a:xfrm>
          <a:prstGeom prst="roundRect">
            <a:avLst>
              <a:gd name="adj" fmla="val 50000"/>
            </a:avLst>
          </a:prstGeom>
          <a:solidFill>
            <a:srgbClr val="16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7300" y="7992665"/>
            <a:ext cx="1918841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2250" b="1">
                <a:solidFill>
                  <a:srgbClr val="FFFFFF"/>
                </a:solidFill>
                <a:latin typeface="Figtree"/>
              </a:rPr>
              <a:t xml:space="preserve">Escribinos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09700" y="11682412"/>
            <a:ext cx="3168848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>
                <a:solidFill>
                  <a:srgbClr val="8FA9C8"/>
                </a:solidFill>
                <a:latin typeface="Figtree"/>
              </a:rPr>
              <a:t xml:space="preserve">tunegocioenlasredes.com.ar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11033" y="11682412"/>
            <a:ext cx="1509266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 spc="283">
                <a:solidFill>
                  <a:srgbClr val="8FA9C8"/>
                </a:solidFill>
                <a:latin typeface="Figtree"/>
              </a:rPr>
              <a:t xml:space="preserve"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