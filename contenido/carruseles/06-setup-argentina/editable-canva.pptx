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4712493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CASO REAL · SETUP ARGENTINA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6926764"/>
            <a:ext cx="2973139" cy="253746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4242941"/>
            <a:ext cx="9182100" cy="29515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Le entregamos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la web en julio.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En septiembre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seguimos</a:t>
            </a: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7461200"/>
            <a:ext cx="8153400" cy="10498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33"/>
              </a:lnSpc>
            </a:pPr>
            <a:r>
              <a:rPr sz="2700" b="0">
                <a:solidFill>
                  <a:srgbClr val="46526B"/>
                </a:solidFill>
                <a:latin typeface="Figtree"/>
              </a:rPr>
              <a:t xml:space="preserve">Lo que pasó en el medio es lo que casi ninguna agencia cuenta.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756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2368004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CÓMO SIGUIÓ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896344"/>
            <a:ext cx="9182100" cy="1863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Una cosa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llevó a la otra.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5179069"/>
            <a:ext cx="1257300" cy="6194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278"/>
              </a:lnSpc>
            </a:pPr>
            <a:r>
              <a:rPr sz="3450" b="1" spc="-69">
                <a:solidFill>
                  <a:srgbClr val="1657D0"/>
                </a:solidFill>
                <a:latin typeface="Bricolage Grotesque"/>
              </a:rPr>
              <a:t xml:space="preserve"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401097"/>
            <a:ext cx="1257300" cy="6194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278"/>
              </a:lnSpc>
            </a:pPr>
            <a:r>
              <a:rPr sz="3450" b="1" spc="-69">
                <a:solidFill>
                  <a:srgbClr val="1657D0"/>
                </a:solidFill>
                <a:latin typeface="Bricolage Grotesque"/>
              </a:rPr>
              <a:t xml:space="preserve"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7623125"/>
            <a:ext cx="1257300" cy="6194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278"/>
              </a:lnSpc>
            </a:pPr>
            <a:r>
              <a:rPr sz="3450" b="1" spc="-69">
                <a:solidFill>
                  <a:srgbClr val="1657D0"/>
                </a:solidFill>
                <a:latin typeface="Bricolage Grotesque"/>
              </a:rPr>
              <a:t xml:space="preserve"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8845153"/>
            <a:ext cx="1257300" cy="6194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278"/>
              </a:lnSpc>
            </a:pPr>
            <a:r>
              <a:rPr sz="3450" b="1" spc="-69">
                <a:solidFill>
                  <a:srgbClr val="1657D0"/>
                </a:solidFill>
                <a:latin typeface="Bricolage Grotesque"/>
              </a:rPr>
              <a:t xml:space="preserve"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1650" y="5255269"/>
            <a:ext cx="1757660" cy="514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33"/>
              </a:lnSpc>
            </a:pPr>
            <a:r>
              <a:rPr sz="2850" b="1">
                <a:solidFill>
                  <a:srgbClr val="0A1B33"/>
                </a:solidFill>
                <a:latin typeface="Figtree"/>
              </a:rPr>
              <a:t xml:space="preserve">La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1650" y="6477297"/>
            <a:ext cx="5127426" cy="514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33"/>
              </a:lnSpc>
            </a:pPr>
            <a:r>
              <a:rPr sz="2850" b="1">
                <a:solidFill>
                  <a:srgbClr val="0A1B33"/>
                </a:solidFill>
                <a:latin typeface="Figtree"/>
              </a:rPr>
              <a:t xml:space="preserve">Una segunda web, con blog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1650" y="7699325"/>
            <a:ext cx="3486298" cy="514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33"/>
              </a:lnSpc>
            </a:pPr>
            <a:r>
              <a:rPr sz="2850" b="1">
                <a:solidFill>
                  <a:srgbClr val="0A1B33"/>
                </a:solidFill>
                <a:latin typeface="Figtree"/>
              </a:rPr>
              <a:t xml:space="preserve">El mantenimiento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1650" y="8921353"/>
            <a:ext cx="2712094" cy="514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33"/>
              </a:lnSpc>
            </a:pPr>
            <a:r>
              <a:rPr sz="2850" b="1">
                <a:solidFill>
                  <a:srgbClr val="0A1B33"/>
                </a:solidFill>
                <a:latin typeface="Figtree"/>
              </a:rPr>
              <a:t xml:space="preserve">Los anuncios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1650" y="5761136"/>
            <a:ext cx="1243310" cy="430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90"/>
              </a:lnSpc>
            </a:pPr>
            <a:r>
              <a:rPr sz="2250" b="0">
                <a:solidFill>
                  <a:srgbClr val="46526B"/>
                </a:solidFill>
                <a:latin typeface="Figtree"/>
              </a:rPr>
              <a:t xml:space="preserve">Julio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1650" y="6983164"/>
            <a:ext cx="4613076" cy="430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90"/>
              </a:lnSpc>
            </a:pPr>
            <a:r>
              <a:rPr sz="2250" b="0">
                <a:solidFill>
                  <a:srgbClr val="46526B"/>
                </a:solidFill>
                <a:latin typeface="Figtree"/>
              </a:rPr>
              <a:t xml:space="preserve">Para publicar sus propias notas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1650" y="8205192"/>
            <a:ext cx="5370760" cy="430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90"/>
              </a:lnSpc>
            </a:pPr>
            <a:r>
              <a:rPr sz="2250" b="0">
                <a:solidFill>
                  <a:srgbClr val="46526B"/>
                </a:solidFill>
                <a:latin typeface="Figtree"/>
              </a:rPr>
              <a:t xml:space="preserve">Todos los meses, sin que haya que pedirlo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71650" y="9427219"/>
            <a:ext cx="6481464" cy="430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90"/>
              </a:lnSpc>
            </a:pPr>
            <a:r>
              <a:rPr sz="2250" b="0">
                <a:solidFill>
                  <a:srgbClr val="46526B"/>
                </a:solidFill>
                <a:latin typeface="Figtree"/>
              </a:rPr>
              <a:t xml:space="preserve">Campañas de Google apuntadas a Estados Unidos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55756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838200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3845123"/>
            <a:ext cx="9182100" cy="22327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FFFFFF"/>
                </a:solidFill>
                <a:latin typeface="Bricolage Grotesque"/>
              </a:rPr>
              <a:t xml:space="preserve">El trabajo no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FFFFFF"/>
                </a:solidFill>
                <a:latin typeface="Bricolage Grotesque"/>
              </a:rPr>
              <a:t xml:space="preserve">termina cuando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63C8F2"/>
                </a:solidFill>
                <a:latin typeface="Bricolage Grotesque"/>
              </a:rPr>
              <a:t xml:space="preserve">entregás</a:t>
            </a:r>
            <a:r>
              <a:rPr sz="5550" b="1" spc="-166">
                <a:solidFill>
                  <a:srgbClr val="FFFFFF"/>
                </a:solidFill>
                <a:latin typeface="Bricolage Grotesque"/>
              </a:rPr>
              <a:t xml:space="preserve"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6344542"/>
            <a:ext cx="8153400" cy="10498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33"/>
              </a:lnSpc>
            </a:pPr>
            <a:r>
              <a:rPr sz="2700" b="0">
                <a:solidFill>
                  <a:srgbClr val="B9CFE8"/>
                </a:solidFill>
                <a:latin typeface="Figtree"/>
              </a:rPr>
              <a:t xml:space="preserve">Empieza ahí. Una web nuestra no es un archivo que te mandamos y chau.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7737276"/>
            <a:ext cx="5870376" cy="885825"/>
          </a:xfrm>
          <a:prstGeom prst="roundRect">
            <a:avLst>
              <a:gd name="adj" fmla="val 50000"/>
            </a:avLst>
          </a:prstGeom>
          <a:solidFill>
            <a:srgbClr val="16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8003976"/>
            <a:ext cx="5194101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2250" b="1">
                <a:solidFill>
                  <a:srgbClr val="FFFFFF"/>
                </a:solidFill>
                <a:latin typeface="Figtree"/>
              </a:rPr>
              <a:t xml:space="preserve">Te hacemos la demo gratis en 72 hs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