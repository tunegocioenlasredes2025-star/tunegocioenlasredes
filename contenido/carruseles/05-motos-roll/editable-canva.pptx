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8200" y="838200"/>
            <a:ext cx="381000" cy="47625"/>
          </a:xfrm>
          <a:prstGeom prst="roundRect">
            <a:avLst>
              <a:gd name="adj" fmla="val 50000"/>
            </a:avLst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38200" y="7336976"/>
            <a:ext cx="5368230" cy="315468"/>
          </a:xfrm>
          <a:prstGeom prst="rect">
            <a:avLst/>
          </a:prstGeom>
          <a:solidFill>
            <a:srgbClr val="73C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8200" y="4893468"/>
            <a:ext cx="9182100" cy="275733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038"/>
              </a:lnSpc>
            </a:pPr>
            <a:r>
              <a:rPr sz="6900" b="1" spc="-206">
                <a:solidFill>
                  <a:srgbClr val="FFFFFF"/>
                </a:solidFill>
                <a:latin typeface="Bricolage Grotesque"/>
              </a:rPr>
              <a:t xml:space="preserve">El trabajo que</a:t>
            </a:r>
          </a:p>
          <a:p>
            <a:pPr algn="l">
              <a:lnSpc>
                <a:spcPts val="7038"/>
              </a:lnSpc>
            </a:pPr>
            <a:r>
              <a:rPr sz="6900" b="1" spc="-206">
                <a:solidFill>
                  <a:srgbClr val="FFFFFF"/>
                </a:solidFill>
                <a:latin typeface="Bricolage Grotesque"/>
              </a:rPr>
              <a:t xml:space="preserve">mejor paga no</a:t>
            </a:r>
          </a:p>
          <a:p>
            <a:pPr algn="l">
              <a:lnSpc>
                <a:spcPts val="7038"/>
              </a:lnSpc>
            </a:pPr>
            <a:r>
              <a:rPr sz="6900" b="1" spc="-206">
                <a:solidFill>
                  <a:srgbClr val="FFFFFF"/>
                </a:solidFill>
                <a:latin typeface="Bricolage Grotesque"/>
              </a:rPr>
              <a:t xml:space="preserve">estaba escrito</a:t>
            </a:r>
            <a:r>
              <a:rPr sz="6900" b="1" spc="-206">
                <a:solidFill>
                  <a:srgbClr val="FFFFFF"/>
                </a:solidFill>
                <a:latin typeface="Bricolage Grotesque"/>
              </a:rPr>
              <a:t xml:space="preserve">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1582400"/>
            <a:ext cx="438150" cy="4381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55756" y="11663362"/>
            <a:ext cx="2064543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800" b="1" spc="252">
                <a:solidFill>
                  <a:srgbClr val="8FD8F5"/>
                </a:solidFill>
                <a:latin typeface="Figtree"/>
              </a:rPr>
              <a:t xml:space="preserve">DESLIZÁ </a:t>
            </a:r>
            <a:r>
              <a:rPr sz="1800" b="1" spc="252">
                <a:solidFill>
                  <a:srgbClr val="8FD8F5"/>
                </a:solidFill>
                <a:latin typeface="Figtree"/>
              </a:rPr>
              <a:t xml:space="preserve">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38200" y="942975"/>
            <a:ext cx="381000" cy="47625"/>
          </a:xfrm>
          <a:prstGeom prst="roundRect">
            <a:avLst>
              <a:gd name="adj" fmla="val 50000"/>
            </a:avLst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838200"/>
            <a:ext cx="5669756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650" b="1" spc="264">
                <a:solidFill>
                  <a:srgbClr val="1657D0"/>
                </a:solidFill>
                <a:latin typeface="Figtree"/>
              </a:rPr>
              <a:t xml:space="preserve">CASO REAL · MOTOS ROLL · ITUZAINGÓ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38800" y="2964805"/>
            <a:ext cx="495300" cy="38100"/>
          </a:xfrm>
          <a:prstGeom prst="roundRect">
            <a:avLst>
              <a:gd name="adj" fmla="val 50000"/>
            </a:avLst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38800" y="5938242"/>
            <a:ext cx="495300" cy="38100"/>
          </a:xfrm>
          <a:prstGeom prst="roundRect">
            <a:avLst>
              <a:gd name="adj" fmla="val 50000"/>
            </a:avLst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38800" y="8263681"/>
            <a:ext cx="495300" cy="38100"/>
          </a:xfrm>
          <a:prstGeom prst="roundRect">
            <a:avLst>
              <a:gd name="adj" fmla="val 50000"/>
            </a:avLst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24600" y="2793355"/>
            <a:ext cx="3181350" cy="8200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29"/>
              </a:lnSpc>
            </a:pPr>
            <a:r>
              <a:rPr sz="2325" b="1">
                <a:solidFill>
                  <a:srgbClr val="0A1B33"/>
                </a:solidFill>
                <a:latin typeface="Figtree"/>
              </a:rPr>
              <a:t xml:space="preserve">Presupuestos para las aseguradoras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600" y="5766792"/>
            <a:ext cx="3181350" cy="8200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29"/>
              </a:lnSpc>
            </a:pPr>
            <a:r>
              <a:rPr sz="2325" b="1">
                <a:solidFill>
                  <a:srgbClr val="0A1B33"/>
                </a:solidFill>
                <a:latin typeface="Figtree"/>
              </a:rPr>
              <a:t xml:space="preserve">Informe con fotos de cada daño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600" y="8092231"/>
            <a:ext cx="3181350" cy="8200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29"/>
              </a:lnSpc>
            </a:pPr>
            <a:r>
              <a:rPr sz="2325" b="1">
                <a:solidFill>
                  <a:srgbClr val="0A1B33"/>
                </a:solidFill>
                <a:latin typeface="Figtree"/>
              </a:rPr>
              <a:t xml:space="preserve">“Atendemos siniestros de toda la zona oeste”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600" y="3613398"/>
            <a:ext cx="3181350" cy="16961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51"/>
              </a:lnSpc>
            </a:pPr>
            <a:r>
              <a:rPr sz="2025" b="0">
                <a:solidFill>
                  <a:srgbClr val="46526B"/>
                </a:solidFill>
                <a:latin typeface="Figtree"/>
              </a:rPr>
              <a:t xml:space="preserve">Mano de obra y repuestos discriminados, en el formato que pide la compañía. Con su propio botón.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600" y="6586835"/>
            <a:ext cx="3181350" cy="10481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51"/>
              </a:lnSpc>
            </a:pPr>
            <a:r>
              <a:rPr sz="2025" b="0">
                <a:solidFill>
                  <a:srgbClr val="46526B"/>
                </a:solidFill>
                <a:latin typeface="Figtree"/>
              </a:rPr>
              <a:t xml:space="preserve">Para que la aseguradora autorice la reparación sin idas y vueltas.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4600" y="8912274"/>
            <a:ext cx="3181350" cy="10481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51"/>
              </a:lnSpc>
            </a:pPr>
            <a:r>
              <a:rPr sz="2025" b="0">
                <a:solidFill>
                  <a:srgbClr val="46526B"/>
                </a:solidFill>
                <a:latin typeface="Figtree"/>
              </a:rPr>
              <a:t xml:space="preserve">Ahora está escrito en la página, y no sólo en la cabeza del mecánico.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515" y="1954124"/>
            <a:ext cx="4632668" cy="87695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1582400"/>
            <a:ext cx="438150" cy="4381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955756" y="11663362"/>
            <a:ext cx="2064543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800" b="1" spc="252">
                <a:solidFill>
                  <a:srgbClr val="1657D0"/>
                </a:solidFill>
                <a:latin typeface="Figtree"/>
              </a:rPr>
              <a:t xml:space="preserve">DESLIZÁ </a:t>
            </a:r>
            <a:r>
              <a:rPr sz="1800" b="1" spc="252">
                <a:solidFill>
                  <a:srgbClr val="1657D0"/>
                </a:solidFill>
                <a:latin typeface="Figtree"/>
              </a:rPr>
              <a:t xml:space="preserve"> 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38200" y="838200"/>
            <a:ext cx="381000" cy="47625"/>
          </a:xfrm>
          <a:prstGeom prst="roundRect">
            <a:avLst>
              <a:gd name="adj" fmla="val 50000"/>
            </a:avLst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38200" y="6468373"/>
            <a:ext cx="3775174" cy="253746"/>
          </a:xfrm>
          <a:prstGeom prst="rect">
            <a:avLst/>
          </a:prstGeom>
          <a:solidFill>
            <a:srgbClr val="A8E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200" y="4503390"/>
            <a:ext cx="9182100" cy="22327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661"/>
              </a:lnSpc>
            </a:pPr>
            <a:r>
              <a:rPr sz="5550" b="1" spc="-166">
                <a:solidFill>
                  <a:srgbClr val="0A1B33"/>
                </a:solidFill>
                <a:latin typeface="Bricolage Grotesque"/>
              </a:rPr>
              <a:t xml:space="preserve">Ahora cualquiera</a:t>
            </a:r>
          </a:p>
          <a:p>
            <a:pPr algn="l">
              <a:lnSpc>
                <a:spcPts val="5661"/>
              </a:lnSpc>
            </a:pPr>
            <a:r>
              <a:rPr sz="5550" b="1" spc="-166">
                <a:solidFill>
                  <a:srgbClr val="0A1B33"/>
                </a:solidFill>
                <a:latin typeface="Bricolage Grotesque"/>
              </a:rPr>
              <a:t xml:space="preserve">que chocó la moto</a:t>
            </a:r>
          </a:p>
          <a:p>
            <a:pPr algn="l">
              <a:lnSpc>
                <a:spcPts val="5661"/>
              </a:lnSpc>
            </a:pPr>
            <a:r>
              <a:rPr sz="5550" b="1" spc="-166">
                <a:solidFill>
                  <a:srgbClr val="0A1B33"/>
                </a:solidFill>
                <a:latin typeface="Bricolage Grotesque"/>
              </a:rPr>
              <a:t xml:space="preserve">lo encuentra</a:t>
            </a:r>
            <a:r>
              <a:rPr sz="5550" b="1" spc="-166">
                <a:solidFill>
                  <a:srgbClr val="0A1B33"/>
                </a:solidFill>
                <a:latin typeface="Bricolage Grotesque"/>
              </a:rPr>
              <a:t xml:space="preserve"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8200" y="7079009"/>
            <a:ext cx="5870376" cy="885825"/>
          </a:xfrm>
          <a:prstGeom prst="roundRect">
            <a:avLst>
              <a:gd name="adj" fmla="val 50000"/>
            </a:avLst>
          </a:prstGeom>
          <a:solidFill>
            <a:srgbClr val="165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57300" y="7345709"/>
            <a:ext cx="5194101" cy="4286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2250" b="1">
                <a:solidFill>
                  <a:srgbClr val="FFFFFF"/>
                </a:solidFill>
                <a:latin typeface="Figtree"/>
              </a:rPr>
              <a:t xml:space="preserve">Te hacemos la demo gratis en 72 hs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582400"/>
            <a:ext cx="438150" cy="4381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