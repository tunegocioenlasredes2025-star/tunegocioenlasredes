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942975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838200"/>
            <a:ext cx="5356175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650" b="1" spc="264">
                <a:solidFill>
                  <a:srgbClr val="1657D0"/>
                </a:solidFill>
                <a:latin typeface="Figtree"/>
              </a:rPr>
              <a:t xml:space="preserve">CASO REAL · MC E BIKES · CASTELAR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200" y="6336702"/>
            <a:ext cx="4158853" cy="315468"/>
          </a:xfrm>
          <a:prstGeom prst="rect">
            <a:avLst/>
          </a:prstGeom>
          <a:solidFill>
            <a:srgbClr val="A8E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200" y="3893194"/>
            <a:ext cx="9182100" cy="36510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Nadie compra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una bici de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$1.890.000</a:t>
            </a:r>
          </a:p>
          <a:p>
            <a:pPr algn="l">
              <a:lnSpc>
                <a:spcPts val="7038"/>
              </a:lnSpc>
            </a:pPr>
            <a:r>
              <a:rPr sz="6900" b="1" spc="-206">
                <a:solidFill>
                  <a:srgbClr val="0A1B33"/>
                </a:solidFill>
                <a:latin typeface="Bricolage Grotesque"/>
              </a:rPr>
              <a:t xml:space="preserve">por un DM.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7810946"/>
            <a:ext cx="8153400" cy="10498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33"/>
              </a:lnSpc>
            </a:pPr>
            <a:r>
              <a:rPr sz="2700" b="0">
                <a:solidFill>
                  <a:srgbClr val="46526B"/>
                </a:solidFill>
                <a:latin typeface="Figtree"/>
              </a:rPr>
              <a:t xml:space="preserve">Le armamos la tienda a MC E Bikes, que vende fat e-bikes en Castelar.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942975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838200"/>
            <a:ext cx="2345977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650" b="1" spc="264">
                <a:solidFill>
                  <a:srgbClr val="1657D0"/>
                </a:solidFill>
                <a:latin typeface="Figtree"/>
              </a:rPr>
              <a:t xml:space="preserve">EL PROBLEMA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2373" y="6080527"/>
            <a:ext cx="1418927" cy="253746"/>
          </a:xfrm>
          <a:prstGeom prst="rect">
            <a:avLst/>
          </a:prstGeom>
          <a:solidFill>
            <a:srgbClr val="A8E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200" y="4115544"/>
            <a:ext cx="9182100" cy="22327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Una compra cara</a:t>
            </a:r>
          </a:p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no se decide</a:t>
            </a:r>
          </a:p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en un </a:t>
            </a: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chat</a:t>
            </a: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6614963"/>
            <a:ext cx="8153400" cy="20234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33"/>
              </a:lnSpc>
            </a:pPr>
            <a:r>
              <a:rPr sz="2700" b="0">
                <a:solidFill>
                  <a:srgbClr val="46526B"/>
                </a:solidFill>
                <a:latin typeface="Figtree"/>
              </a:rPr>
              <a:t xml:space="preserve">Antes de poner dos millones, la persona quiere ver la ficha entera: cuánta potencia tiene, cuánto dura la batería y en cuántas cuotas lo paga. Eso no entra en una respuesta de Instagram.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1657D0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87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942975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838200"/>
            <a:ext cx="3103959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650" b="1" spc="264">
                <a:solidFill>
                  <a:srgbClr val="8FD8F5"/>
                </a:solidFill>
                <a:latin typeface="Figtree"/>
              </a:rPr>
              <a:t xml:space="preserve">QUÉ CONSTRUIMOS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3782169"/>
            <a:ext cx="5181600" cy="24074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590"/>
              </a:lnSpc>
            </a:pPr>
            <a:r>
              <a:rPr sz="4500" b="1" spc="-135">
                <a:solidFill>
                  <a:srgbClr val="FFFFFF"/>
                </a:solidFill>
                <a:latin typeface="Bricolage Grotesque"/>
              </a:rPr>
              <a:t xml:space="preserve">Cuatro modelos.</a:t>
            </a:r>
          </a:p>
          <a:p>
            <a:pPr algn="l">
              <a:lnSpc>
                <a:spcPts val="4590"/>
              </a:lnSpc>
            </a:pPr>
            <a:r>
              <a:rPr sz="4500" b="1" spc="-135">
                <a:solidFill>
                  <a:srgbClr val="FFFFFF"/>
                </a:solidFill>
                <a:latin typeface="Bricolage Grotesque"/>
              </a:rPr>
              <a:t xml:space="preserve">Cada uno con</a:t>
            </a:r>
          </a:p>
          <a:p>
            <a:pPr algn="l">
              <a:lnSpc>
                <a:spcPts val="4590"/>
              </a:lnSpc>
            </a:pPr>
            <a:r>
              <a:rPr sz="4500" b="1" spc="-135">
                <a:solidFill>
                  <a:srgbClr val="FFFFFF"/>
                </a:solidFill>
                <a:latin typeface="Bricolage Grotesque"/>
              </a:rPr>
              <a:t xml:space="preserve">su ficha y</a:t>
            </a:r>
          </a:p>
          <a:p>
            <a:pPr algn="l">
              <a:lnSpc>
                <a:spcPts val="4590"/>
              </a:lnSpc>
            </a:pPr>
            <a:r>
              <a:rPr sz="4500" b="1" spc="-135">
                <a:solidFill>
                  <a:srgbClr val="63C8F2"/>
                </a:solidFill>
                <a:latin typeface="Bricolage Grotesque"/>
              </a:rPr>
              <a:t xml:space="preserve">su precio</a:t>
            </a:r>
            <a:r>
              <a:rPr sz="4500" b="1" spc="-135">
                <a:solidFill>
                  <a:srgbClr val="FFFFFF"/>
                </a:solidFill>
                <a:latin typeface="Bricolage Grotesque"/>
              </a:rPr>
              <a:t xml:space="preserve"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6380112"/>
            <a:ext cx="4667250" cy="25916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01"/>
              </a:lnSpc>
            </a:pPr>
            <a:r>
              <a:rPr sz="2325" b="0">
                <a:solidFill>
                  <a:srgbClr val="B9CFE8"/>
                </a:solidFill>
                <a:latin typeface="Figtree"/>
              </a:rPr>
              <a:t xml:space="preserve">Potencia, autonomía y velocidad de cada bici. Las 12 cuotas sin interés ya calculadas. Y una calculadora de ahorro que aclara, en la misma página, que es orientativa.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800" y="2909887"/>
            <a:ext cx="3429000" cy="6858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55756" y="11663362"/>
            <a:ext cx="20645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800" b="1" spc="252">
                <a:solidFill>
                  <a:srgbClr val="8FD8F5"/>
                </a:solidFill>
                <a:latin typeface="Figtree"/>
              </a:rPr>
              <a:t xml:space="preserve">DESLIZÁ </a:t>
            </a:r>
            <a:r>
              <a:rPr sz="1800" b="1" spc="252">
                <a:solidFill>
                  <a:srgbClr val="8FD8F5"/>
                </a:solidFill>
                <a:latin typeface="Figtree"/>
              </a:rPr>
              <a:t xml:space="preserve">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942975"/>
            <a:ext cx="381000" cy="47625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838200"/>
            <a:ext cx="2587376" cy="3333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1650" b="1" spc="264">
                <a:solidFill>
                  <a:srgbClr val="1657D0"/>
                </a:solidFill>
                <a:latin typeface="Figtree"/>
              </a:rPr>
              <a:t xml:space="preserve">QUÉ TIENE HOY</a:t>
            </a:r>
          </a:p>
        </p:txBody>
      </p:sp>
      <p:sp>
        <p:nvSpPr>
          <p:cNvPr id="4" name="Rectangle 3"/>
          <p:cNvSpPr/>
          <p:nvPr/>
        </p:nvSpPr>
        <p:spPr>
          <a:xfrm>
            <a:off x="1318914" y="5671399"/>
            <a:ext cx="3742134" cy="253746"/>
          </a:xfrm>
          <a:prstGeom prst="rect">
            <a:avLst/>
          </a:prstGeom>
          <a:solidFill>
            <a:srgbClr val="A8E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200" y="3706415"/>
            <a:ext cx="9182100" cy="223271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El que entra</a:t>
            </a:r>
          </a:p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ya sabe cuál quiere</a:t>
            </a:r>
          </a:p>
          <a:p>
            <a:pPr algn="l">
              <a:lnSpc>
                <a:spcPts val="5661"/>
              </a:lnSpc>
            </a:pP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y </a:t>
            </a: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cuánto paga</a:t>
            </a:r>
            <a:r>
              <a:rPr sz="5550" b="1" spc="-166">
                <a:solidFill>
                  <a:srgbClr val="0A1B33"/>
                </a:solidFill>
                <a:latin typeface="Bricolage Grotesque"/>
              </a:rPr>
              <a:t xml:space="preserve"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6205835"/>
            <a:ext cx="8153400" cy="1536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33"/>
              </a:lnSpc>
            </a:pPr>
            <a:r>
              <a:rPr sz="2700" b="0">
                <a:solidFill>
                  <a:srgbClr val="46526B"/>
                </a:solidFill>
                <a:latin typeface="Figtree"/>
              </a:rPr>
              <a:t xml:space="preserve">Desde $1.890.000, en 12 cuotas sin interés desde $157.500. Test ride en Castelar y service propio: lo mismo que contestaban veinte veces por mensaje.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8200" y="8085385"/>
            <a:ext cx="5870376" cy="885825"/>
          </a:xfrm>
          <a:prstGeom prst="roundRect">
            <a:avLst>
              <a:gd name="adj" fmla="val 50000"/>
            </a:avLst>
          </a:prstGeom>
          <a:solidFill>
            <a:srgbClr val="165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57300" y="8352085"/>
            <a:ext cx="5194101" cy="4286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0"/>
              </a:lnSpc>
            </a:pPr>
            <a:r>
              <a:rPr sz="2250" b="1">
                <a:solidFill>
                  <a:srgbClr val="FFFFFF"/>
                </a:solidFill>
                <a:latin typeface="Figtree"/>
              </a:rPr>
              <a:t xml:space="preserve">Te hacemos la demo gratis en 72 hs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582400"/>
            <a:ext cx="438150" cy="4381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