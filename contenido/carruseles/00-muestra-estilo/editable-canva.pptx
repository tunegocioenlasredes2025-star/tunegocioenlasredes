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38200" y="942975"/>
            <a:ext cx="381000" cy="47625"/>
          </a:xfrm>
          <a:prstGeom prst="roundRect">
            <a:avLst>
              <a:gd name="adj" fmla="val 50000"/>
            </a:avLst>
          </a:prstGeom>
          <a:solidFill>
            <a:srgbClr val="00A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838200"/>
            <a:ext cx="6031855" cy="3333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0"/>
              </a:lnSpc>
            </a:pPr>
            <a:r>
              <a:rPr sz="1650" b="1" spc="264">
                <a:solidFill>
                  <a:srgbClr val="1657D0"/>
                </a:solidFill>
                <a:latin typeface="Figtree"/>
              </a:rPr>
              <a:t xml:space="preserve">CASO REAL · TONCARS · ING. MASCHWITZ</a:t>
            </a:r>
          </a:p>
        </p:txBody>
      </p:sp>
      <p:sp>
        <p:nvSpPr>
          <p:cNvPr id="4" name="Rectangle 3"/>
          <p:cNvSpPr/>
          <p:nvPr/>
        </p:nvSpPr>
        <p:spPr>
          <a:xfrm>
            <a:off x="2965102" y="6336702"/>
            <a:ext cx="2584251" cy="315468"/>
          </a:xfrm>
          <a:prstGeom prst="rect">
            <a:avLst/>
          </a:prstGeom>
          <a:solidFill>
            <a:srgbClr val="A8E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38200" y="7230415"/>
            <a:ext cx="3254573" cy="315468"/>
          </a:xfrm>
          <a:prstGeom prst="rect">
            <a:avLst/>
          </a:prstGeom>
          <a:solidFill>
            <a:srgbClr val="A8E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8200" y="3893194"/>
            <a:ext cx="9182100" cy="36510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038"/>
              </a:lnSpc>
            </a:pPr>
            <a:r>
              <a:rPr sz="6900" b="1" spc="-206">
                <a:solidFill>
                  <a:srgbClr val="0A1B33"/>
                </a:solidFill>
                <a:latin typeface="Bricolage Grotesque"/>
              </a:rPr>
              <a:t xml:space="preserve">El problema</a:t>
            </a:r>
          </a:p>
          <a:p>
            <a:pPr algn="l">
              <a:lnSpc>
                <a:spcPts val="7038"/>
              </a:lnSpc>
            </a:pPr>
            <a:r>
              <a:rPr sz="6900" b="1" spc="-206">
                <a:solidFill>
                  <a:srgbClr val="0A1B33"/>
                </a:solidFill>
                <a:latin typeface="Bricolage Grotesque"/>
              </a:rPr>
              <a:t xml:space="preserve">no era la web.</a:t>
            </a:r>
          </a:p>
          <a:p>
            <a:pPr algn="l">
              <a:lnSpc>
                <a:spcPts val="7038"/>
              </a:lnSpc>
            </a:pPr>
            <a:r>
              <a:rPr sz="6900" b="1" spc="-206">
                <a:solidFill>
                  <a:srgbClr val="0A1B33"/>
                </a:solidFill>
                <a:latin typeface="Bricolage Grotesque"/>
              </a:rPr>
              <a:t xml:space="preserve">Era el </a:t>
            </a:r>
            <a:r>
              <a:rPr sz="6900" b="1" spc="-206">
                <a:solidFill>
                  <a:srgbClr val="0A1B33"/>
                </a:solidFill>
                <a:latin typeface="Bricolage Grotesque"/>
              </a:rPr>
              <a:t xml:space="preserve">primer</a:t>
            </a:r>
          </a:p>
          <a:p>
            <a:pPr algn="l">
              <a:lnSpc>
                <a:spcPts val="7038"/>
              </a:lnSpc>
            </a:pPr>
            <a:r>
              <a:rPr sz="6900" b="1" spc="-206">
                <a:solidFill>
                  <a:srgbClr val="0A1B33"/>
                </a:solidFill>
                <a:latin typeface="Bricolage Grotesque"/>
              </a:rPr>
              <a:t xml:space="preserve">mensaje</a:t>
            </a:r>
            <a:r>
              <a:rPr sz="6900" b="1" spc="-206">
                <a:solidFill>
                  <a:srgbClr val="0A1B33"/>
                </a:solidFill>
                <a:latin typeface="Bricolage Grotesque"/>
              </a:rPr>
              <a:t xml:space="preserve"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7810946"/>
            <a:ext cx="8153400" cy="104983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33"/>
              </a:lnSpc>
            </a:pPr>
            <a:r>
              <a:rPr sz="2700" b="0">
                <a:solidFill>
                  <a:srgbClr val="46526B"/>
                </a:solidFill>
                <a:latin typeface="Figtree"/>
              </a:rPr>
              <a:t xml:space="preserve">Cómo hicimos que cada consulta llegue con el auto ya elegido.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1582400"/>
            <a:ext cx="438150" cy="4381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09700" y="11682412"/>
            <a:ext cx="3168848" cy="3143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0"/>
              </a:lnSpc>
            </a:pPr>
            <a:r>
              <a:rPr sz="1575" b="1">
                <a:solidFill>
                  <a:srgbClr val="6B7690"/>
                </a:solidFill>
                <a:latin typeface="Figtree"/>
              </a:rPr>
              <a:t xml:space="preserve">tunegocioenlasredes.com.ar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29411" y="11663362"/>
            <a:ext cx="2064543" cy="3524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0"/>
              </a:lnSpc>
            </a:pPr>
            <a:r>
              <a:rPr sz="1800" b="1" spc="252">
                <a:solidFill>
                  <a:srgbClr val="1657D0"/>
                </a:solidFill>
                <a:latin typeface="Figtree"/>
              </a:rPr>
              <a:t xml:space="preserve">DESLIZÁ </a:t>
            </a:r>
            <a:r>
              <a:rPr sz="1800" b="1" spc="252">
                <a:solidFill>
                  <a:srgbClr val="1657D0"/>
                </a:solidFill>
                <a:latin typeface="Figtree"/>
              </a:rPr>
              <a:t xml:space="preserve"> 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4817" y="11682412"/>
            <a:ext cx="1475482" cy="3143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0"/>
              </a:lnSpc>
            </a:pPr>
            <a:r>
              <a:rPr sz="1575" b="1" spc="283">
                <a:solidFill>
                  <a:srgbClr val="6B7690"/>
                </a:solidFill>
                <a:latin typeface="Figtree"/>
              </a:rPr>
              <a:t xml:space="preserve">01 / 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38200" y="942975"/>
            <a:ext cx="381000" cy="47625"/>
          </a:xfrm>
          <a:prstGeom prst="roundRect">
            <a:avLst>
              <a:gd name="adj" fmla="val 50000"/>
            </a:avLst>
          </a:prstGeom>
          <a:solidFill>
            <a:srgbClr val="00A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838200"/>
            <a:ext cx="2345977" cy="3333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0"/>
              </a:lnSpc>
            </a:pPr>
            <a:r>
              <a:rPr sz="1650" b="1" spc="264">
                <a:solidFill>
                  <a:srgbClr val="1657D0"/>
                </a:solidFill>
                <a:latin typeface="Figtree"/>
              </a:rPr>
              <a:t xml:space="preserve">EL PROBLEMA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838200" y="6567344"/>
            <a:ext cx="2632620" cy="253746"/>
          </a:xfrm>
          <a:prstGeom prst="rect">
            <a:avLst/>
          </a:prstGeom>
          <a:solidFill>
            <a:srgbClr val="A8E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8200" y="4602360"/>
            <a:ext cx="9182100" cy="22327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5661"/>
              </a:lnSpc>
            </a:pPr>
            <a:r>
              <a:rPr sz="5550" b="1" spc="-166">
                <a:solidFill>
                  <a:srgbClr val="0A1B33"/>
                </a:solidFill>
                <a:latin typeface="Bricolage Grotesque"/>
              </a:rPr>
              <a:t xml:space="preserve">Un usado se vende</a:t>
            </a:r>
          </a:p>
          <a:p>
            <a:pPr algn="l">
              <a:lnSpc>
                <a:spcPts val="5661"/>
              </a:lnSpc>
            </a:pPr>
            <a:r>
              <a:rPr sz="5550" b="1" spc="-166">
                <a:solidFill>
                  <a:srgbClr val="0A1B33"/>
                </a:solidFill>
                <a:latin typeface="Bricolage Grotesque"/>
              </a:rPr>
              <a:t xml:space="preserve">con la foto y el precio</a:t>
            </a:r>
          </a:p>
          <a:p>
            <a:pPr algn="l">
              <a:lnSpc>
                <a:spcPts val="5661"/>
              </a:lnSpc>
            </a:pPr>
            <a:r>
              <a:rPr sz="5550" b="1" spc="-166">
                <a:solidFill>
                  <a:srgbClr val="0A1B33"/>
                </a:solidFill>
                <a:latin typeface="Bricolage Grotesque"/>
              </a:rPr>
              <a:t xml:space="preserve">a la vista</a:t>
            </a:r>
            <a:r>
              <a:rPr sz="5550" b="1" spc="-166">
                <a:solidFill>
                  <a:srgbClr val="0A1B33"/>
                </a:solidFill>
                <a:latin typeface="Bricolage Grotesque"/>
              </a:rPr>
              <a:t xml:space="preserve"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7101780"/>
            <a:ext cx="8153400" cy="104983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33"/>
              </a:lnSpc>
            </a:pPr>
            <a:r>
              <a:rPr sz="2700" b="0">
                <a:solidFill>
                  <a:srgbClr val="46526B"/>
                </a:solidFill>
                <a:latin typeface="Figtree"/>
              </a:rPr>
              <a:t xml:space="preserve">Si cada unidad vive en una publicación suelta, la persona compara en otra pestaña. Y no vuelve.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1582400"/>
            <a:ext cx="438150" cy="4381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09700" y="11682412"/>
            <a:ext cx="3168848" cy="3143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0"/>
              </a:lnSpc>
            </a:pPr>
            <a:r>
              <a:rPr sz="1575" b="1">
                <a:solidFill>
                  <a:srgbClr val="6B7690"/>
                </a:solidFill>
                <a:latin typeface="Figtree"/>
              </a:rPr>
              <a:t xml:space="preserve">tunegocioenlasredes.com.ar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13635" y="11663362"/>
            <a:ext cx="2064543" cy="3524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0"/>
              </a:lnSpc>
            </a:pPr>
            <a:r>
              <a:rPr sz="1800" b="1" spc="252">
                <a:solidFill>
                  <a:srgbClr val="1657D0"/>
                </a:solidFill>
                <a:latin typeface="Figtree"/>
              </a:rPr>
              <a:t xml:space="preserve">DESLIZÁ </a:t>
            </a:r>
            <a:r>
              <a:rPr sz="1800" b="1" spc="252">
                <a:solidFill>
                  <a:srgbClr val="1657D0"/>
                </a:solidFill>
                <a:latin typeface="Figtree"/>
              </a:rPr>
              <a:t xml:space="preserve"> 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13266" y="11682412"/>
            <a:ext cx="1506884" cy="3143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0"/>
              </a:lnSpc>
            </a:pPr>
            <a:r>
              <a:rPr sz="1575" b="1" spc="283">
                <a:solidFill>
                  <a:srgbClr val="6B7690"/>
                </a:solidFill>
                <a:latin typeface="Figtree"/>
              </a:rPr>
              <a:t xml:space="preserve">02 / 04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87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38200" y="942975"/>
            <a:ext cx="381000" cy="47625"/>
          </a:xfrm>
          <a:prstGeom prst="roundRect">
            <a:avLst>
              <a:gd name="adj" fmla="val 50000"/>
            </a:avLst>
          </a:prstGeom>
          <a:solidFill>
            <a:srgbClr val="00A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838200"/>
            <a:ext cx="3103959" cy="3333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0"/>
              </a:lnSpc>
            </a:pPr>
            <a:r>
              <a:rPr sz="1650" b="1" spc="264">
                <a:solidFill>
                  <a:srgbClr val="8FD8F5"/>
                </a:solidFill>
                <a:latin typeface="Figtree"/>
              </a:rPr>
              <a:t xml:space="preserve">QUÉ CONSTRUIMOS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3910012"/>
            <a:ext cx="5181600" cy="299025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590"/>
              </a:lnSpc>
            </a:pPr>
            <a:r>
              <a:rPr sz="4500" b="1" spc="-135">
                <a:solidFill>
                  <a:srgbClr val="FFFFFF"/>
                </a:solidFill>
                <a:latin typeface="Bricolage Grotesque"/>
              </a:rPr>
              <a:t xml:space="preserve">Una ficha</a:t>
            </a:r>
          </a:p>
          <a:p>
            <a:pPr algn="l">
              <a:lnSpc>
                <a:spcPts val="4590"/>
              </a:lnSpc>
            </a:pPr>
            <a:r>
              <a:rPr sz="4500" b="1" spc="-135">
                <a:solidFill>
                  <a:srgbClr val="FFFFFF"/>
                </a:solidFill>
                <a:latin typeface="Bricolage Grotesque"/>
              </a:rPr>
              <a:t xml:space="preserve">por auto.</a:t>
            </a:r>
          </a:p>
          <a:p>
            <a:pPr algn="l">
              <a:lnSpc>
                <a:spcPts val="4590"/>
              </a:lnSpc>
            </a:pPr>
            <a:r>
              <a:rPr sz="4500" b="1" spc="-135">
                <a:solidFill>
                  <a:srgbClr val="FFFFFF"/>
                </a:solidFill>
                <a:latin typeface="Bricolage Grotesque"/>
              </a:rPr>
              <a:t xml:space="preserve">Con su propio</a:t>
            </a:r>
          </a:p>
          <a:p>
            <a:pPr algn="l">
              <a:lnSpc>
                <a:spcPts val="4590"/>
              </a:lnSpc>
            </a:pPr>
            <a:r>
              <a:rPr sz="4500" b="1" spc="-135">
                <a:solidFill>
                  <a:srgbClr val="63C8F2"/>
                </a:solidFill>
                <a:latin typeface="Bricolage Grotesque"/>
              </a:rPr>
              <a:t xml:space="preserve">botón de</a:t>
            </a:r>
          </a:p>
          <a:p>
            <a:pPr algn="l">
              <a:lnSpc>
                <a:spcPts val="4590"/>
              </a:lnSpc>
            </a:pPr>
            <a:r>
              <a:rPr sz="4500" b="1" spc="-135">
                <a:solidFill>
                  <a:srgbClr val="63C8F2"/>
                </a:solidFill>
                <a:latin typeface="Bricolage Grotesque"/>
              </a:rPr>
              <a:t xml:space="preserve">consulta</a:t>
            </a:r>
            <a:r>
              <a:rPr sz="4500" b="1" spc="-135">
                <a:solidFill>
                  <a:srgbClr val="FFFFFF"/>
                </a:solidFill>
                <a:latin typeface="Bricolage Grotesque"/>
              </a:rPr>
              <a:t xml:space="preserve"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7090767"/>
            <a:ext cx="4667250" cy="17531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301"/>
              </a:lnSpc>
            </a:pPr>
            <a:r>
              <a:rPr sz="2325" b="0">
                <a:solidFill>
                  <a:srgbClr val="B9CFE8"/>
                </a:solidFill>
                <a:latin typeface="Figtree"/>
              </a:rPr>
              <a:t xml:space="preserve">Financiación, permuta, consignación y el paso a paso de la compra: escritos una vez, para siempre.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800" y="2909887"/>
            <a:ext cx="3429000" cy="6858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1582400"/>
            <a:ext cx="438150" cy="4381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09700" y="11682412"/>
            <a:ext cx="3168848" cy="3143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0"/>
              </a:lnSpc>
            </a:pPr>
            <a:r>
              <a:rPr sz="1575" b="1">
                <a:solidFill>
                  <a:srgbClr val="8FA9C8"/>
                </a:solidFill>
                <a:latin typeface="Figtree"/>
              </a:rPr>
              <a:t xml:space="preserve">tunegocioenlasredes.com.ar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16016" y="11663362"/>
            <a:ext cx="2064543" cy="3524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0"/>
              </a:lnSpc>
            </a:pPr>
            <a:r>
              <a:rPr sz="1800" b="1" spc="252">
                <a:solidFill>
                  <a:srgbClr val="8FD8F5"/>
                </a:solidFill>
                <a:latin typeface="Figtree"/>
              </a:rPr>
              <a:t xml:space="preserve">DESLIZÁ </a:t>
            </a:r>
            <a:r>
              <a:rPr sz="1800" b="1" spc="252">
                <a:solidFill>
                  <a:srgbClr val="8FD8F5"/>
                </a:solidFill>
                <a:latin typeface="Figtree"/>
              </a:rPr>
              <a:t xml:space="preserve"> 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18028" y="11682412"/>
            <a:ext cx="1502271" cy="3143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0"/>
              </a:lnSpc>
            </a:pPr>
            <a:r>
              <a:rPr sz="1575" b="1" spc="283">
                <a:solidFill>
                  <a:srgbClr val="8FA9C8"/>
                </a:solidFill>
                <a:latin typeface="Figtree"/>
              </a:rPr>
              <a:t xml:space="preserve">03 / 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38200" y="942975"/>
            <a:ext cx="381000" cy="47625"/>
          </a:xfrm>
          <a:prstGeom prst="roundRect">
            <a:avLst>
              <a:gd name="adj" fmla="val 50000"/>
            </a:avLst>
          </a:prstGeom>
          <a:solidFill>
            <a:srgbClr val="00A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838200"/>
            <a:ext cx="2587376" cy="3333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0"/>
              </a:lnSpc>
            </a:pPr>
            <a:r>
              <a:rPr sz="1650" b="1" spc="264">
                <a:solidFill>
                  <a:srgbClr val="1657D0"/>
                </a:solidFill>
                <a:latin typeface="Figtree"/>
              </a:rPr>
              <a:t xml:space="preserve">QUÉ TIENE HOY</a:t>
            </a:r>
          </a:p>
        </p:txBody>
      </p:sp>
      <p:sp>
        <p:nvSpPr>
          <p:cNvPr id="4" name="Rectangle 3"/>
          <p:cNvSpPr/>
          <p:nvPr/>
        </p:nvSpPr>
        <p:spPr>
          <a:xfrm>
            <a:off x="3149054" y="5237309"/>
            <a:ext cx="3165127" cy="315468"/>
          </a:xfrm>
          <a:prstGeom prst="rect">
            <a:avLst/>
          </a:prstGeom>
          <a:solidFill>
            <a:srgbClr val="A8E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38200" y="6131022"/>
            <a:ext cx="3804046" cy="315468"/>
          </a:xfrm>
          <a:prstGeom prst="rect">
            <a:avLst/>
          </a:prstGeom>
          <a:solidFill>
            <a:srgbClr val="A8E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8200" y="3687514"/>
            <a:ext cx="9182100" cy="275733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038"/>
              </a:lnSpc>
            </a:pPr>
            <a:r>
              <a:rPr sz="6900" b="1" spc="-206">
                <a:solidFill>
                  <a:srgbClr val="0A1B33"/>
                </a:solidFill>
                <a:latin typeface="Bricolage Grotesque"/>
              </a:rPr>
              <a:t xml:space="preserve">Cada consulta entra</a:t>
            </a:r>
          </a:p>
          <a:p>
            <a:pPr algn="l">
              <a:lnSpc>
                <a:spcPts val="7038"/>
              </a:lnSpc>
            </a:pPr>
            <a:r>
              <a:rPr sz="6900" b="1" spc="-206">
                <a:solidFill>
                  <a:srgbClr val="0A1B33"/>
                </a:solidFill>
                <a:latin typeface="Bricolage Grotesque"/>
              </a:rPr>
              <a:t xml:space="preserve">con el </a:t>
            </a:r>
            <a:r>
              <a:rPr sz="6900" b="1" spc="-206">
                <a:solidFill>
                  <a:srgbClr val="0A1B33"/>
                </a:solidFill>
                <a:latin typeface="Bricolage Grotesque"/>
              </a:rPr>
              <a:t xml:space="preserve">vehículo</a:t>
            </a:r>
          </a:p>
          <a:p>
            <a:pPr algn="l">
              <a:lnSpc>
                <a:spcPts val="7038"/>
              </a:lnSpc>
            </a:pPr>
            <a:r>
              <a:rPr sz="6900" b="1" spc="-206">
                <a:solidFill>
                  <a:srgbClr val="0A1B33"/>
                </a:solidFill>
                <a:latin typeface="Bricolage Grotesque"/>
              </a:rPr>
              <a:t xml:space="preserve">ya elegido</a:t>
            </a:r>
            <a:r>
              <a:rPr sz="6900" b="1" spc="-206">
                <a:solidFill>
                  <a:srgbClr val="0A1B33"/>
                </a:solidFill>
                <a:latin typeface="Bricolage Grotesque"/>
              </a:rPr>
              <a:t xml:space="preserve"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6711553"/>
            <a:ext cx="8153400" cy="104983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33"/>
              </a:lnSpc>
            </a:pPr>
            <a:r>
              <a:rPr sz="2700" b="0">
                <a:solidFill>
                  <a:srgbClr val="46526B"/>
                </a:solidFill>
                <a:latin typeface="Figtree"/>
              </a:rPr>
              <a:t xml:space="preserve">Diez accesos a WhatsApp en la misma página. Nadie más escribe «hola, ¿cuánto sale?».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8200" y="8104286"/>
            <a:ext cx="5870376" cy="885825"/>
          </a:xfrm>
          <a:prstGeom prst="roundRect">
            <a:avLst>
              <a:gd name="adj" fmla="val 50000"/>
            </a:avLst>
          </a:prstGeom>
          <a:solidFill>
            <a:srgbClr val="165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57300" y="8370986"/>
            <a:ext cx="5194101" cy="4286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0"/>
              </a:lnSpc>
            </a:pPr>
            <a:r>
              <a:rPr sz="2250" b="1">
                <a:solidFill>
                  <a:srgbClr val="FFFFFF"/>
                </a:solidFill>
                <a:latin typeface="Figtree"/>
              </a:rPr>
              <a:t xml:space="preserve">Te hacemos la demo gratis en 72 hs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1582400"/>
            <a:ext cx="438150" cy="4381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409700" y="11682412"/>
            <a:ext cx="3168848" cy="3143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0"/>
              </a:lnSpc>
            </a:pPr>
            <a:r>
              <a:rPr sz="1575" b="1">
                <a:solidFill>
                  <a:srgbClr val="6B7690"/>
                </a:solidFill>
                <a:latin typeface="Figtree"/>
              </a:rPr>
              <a:t xml:space="preserve">tunegocioenlasredes.com.ar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2550" y="11682412"/>
            <a:ext cx="1517749" cy="3143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0"/>
              </a:lnSpc>
            </a:pPr>
            <a:r>
              <a:rPr sz="1575" b="1" spc="283">
                <a:solidFill>
                  <a:srgbClr val="6B7690"/>
                </a:solidFill>
                <a:latin typeface="Figtree"/>
              </a:rPr>
              <a:t xml:space="preserve">04 / 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