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6278463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1657D0"/>
                </a:solidFill>
                <a:latin typeface="Figtree"/>
              </a:rPr>
              <a:t xml:space="preserve">CASO REAL · MUNDO CORTINAS · CASTELAR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6336702"/>
            <a:ext cx="5144690" cy="315468"/>
          </a:xfrm>
          <a:prstGeom prst="rect">
            <a:avLst/>
          </a:prstGeom>
          <a:solidFill>
            <a:srgbClr val="A8E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4786907"/>
            <a:ext cx="9182100" cy="1863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0A1B33"/>
                </a:solidFill>
                <a:latin typeface="Bricolage Grotesque"/>
              </a:rPr>
              <a:t xml:space="preserve">Contestás lo mismo</a:t>
            </a:r>
          </a:p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0A1B33"/>
                </a:solidFill>
                <a:latin typeface="Bricolage Grotesque"/>
              </a:rPr>
              <a:t xml:space="preserve">todos los días</a:t>
            </a:r>
            <a:r>
              <a:rPr sz="6900" b="1" spc="-206">
                <a:solidFill>
                  <a:srgbClr val="0A1B33"/>
                </a:solidFill>
                <a:latin typeface="Bricolage Grotesque"/>
              </a:rPr>
              <a:t xml:space="preserve"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917233"/>
            <a:ext cx="8153400" cy="10498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33"/>
              </a:lnSpc>
            </a:pPr>
            <a:r>
              <a:rPr sz="2700" b="0">
                <a:solidFill>
                  <a:srgbClr val="46526B"/>
                </a:solidFill>
                <a:latin typeface="Figtree"/>
              </a:rPr>
              <a:t xml:space="preserve">Y no es atención al cliente: es trabajo que la web tendría que estar haciendo por vos.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09700" y="11682412"/>
            <a:ext cx="3168848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>
                <a:solidFill>
                  <a:srgbClr val="6B7690"/>
                </a:solidFill>
                <a:latin typeface="Figtree"/>
              </a:rPr>
              <a:t xml:space="preserve">tunegocioenlasredes.com.ar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1494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8985" y="11682412"/>
            <a:ext cx="1471314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 spc="283">
                <a:solidFill>
                  <a:srgbClr val="6B7690"/>
                </a:solidFill>
                <a:latin typeface="Figtree"/>
              </a:rPr>
              <a:t xml:space="preserve"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2345977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1657D0"/>
                </a:solidFill>
                <a:latin typeface="Figtree"/>
              </a:rPr>
              <a:t xml:space="preserve">EL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2305050" y="6567344"/>
            <a:ext cx="2567136" cy="253746"/>
          </a:xfrm>
          <a:prstGeom prst="rect">
            <a:avLst/>
          </a:prstGeom>
          <a:solidFill>
            <a:srgbClr val="A8E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4602360"/>
            <a:ext cx="9182100" cy="22327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Nadie compra una cortina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a medida sin que alguien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se lo </a:t>
            </a: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explique</a:t>
            </a: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7101780"/>
            <a:ext cx="8153400" cy="10498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33"/>
              </a:lnSpc>
            </a:pPr>
            <a:r>
              <a:rPr sz="2700" b="0">
                <a:solidFill>
                  <a:srgbClr val="46526B"/>
                </a:solidFill>
                <a:latin typeface="Figtree"/>
              </a:rPr>
              <a:t xml:space="preserve">La diferencia entre una black out y una sunscreen no se entiende mirando una foto.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09700" y="11682412"/>
            <a:ext cx="3168848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>
                <a:solidFill>
                  <a:srgbClr val="6B7690"/>
                </a:solidFill>
                <a:latin typeface="Figtree"/>
              </a:rPr>
              <a:t xml:space="preserve">tunegocioenlasredes.com.ar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5719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17433" y="11682412"/>
            <a:ext cx="1502717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 spc="283">
                <a:solidFill>
                  <a:srgbClr val="6B7690"/>
                </a:solidFill>
                <a:latin typeface="Figtree"/>
              </a:rPr>
              <a:t xml:space="preserve"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2648694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1657D0"/>
                </a:solidFill>
                <a:latin typeface="Figtree"/>
              </a:rPr>
              <a:t xml:space="preserve">LO QUE PASABA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2444" y="6323861"/>
            <a:ext cx="1432917" cy="253746"/>
          </a:xfrm>
          <a:prstGeom prst="rect">
            <a:avLst/>
          </a:prstGeom>
          <a:solidFill>
            <a:srgbClr val="A8E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4358878"/>
            <a:ext cx="9182100" cy="22327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Si eso no está escrito,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la explicación arranca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de </a:t>
            </a: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cero</a:t>
            </a: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 en cada consulta.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858297"/>
            <a:ext cx="8153400" cy="1536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33"/>
              </a:lnSpc>
            </a:pPr>
            <a:r>
              <a:rPr sz="2700" b="0">
                <a:solidFill>
                  <a:srgbClr val="46526B"/>
                </a:solidFill>
                <a:latin typeface="Figtree"/>
              </a:rPr>
              <a:t xml:space="preserve">Y el que explica siempre es el dueño. En el mostrador, por teléfono y por WhatsApp. El mismo párrafo, todos los días.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09700" y="11682412"/>
            <a:ext cx="3168848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>
                <a:solidFill>
                  <a:srgbClr val="6B7690"/>
                </a:solidFill>
                <a:latin typeface="Figtree"/>
              </a:rPr>
              <a:t xml:space="preserve">tunegocioenlasredes.com.ar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8100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22196" y="11682412"/>
            <a:ext cx="1498103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 spc="283">
                <a:solidFill>
                  <a:srgbClr val="6B7690"/>
                </a:solidFill>
                <a:latin typeface="Figtree"/>
              </a:rPr>
              <a:t xml:space="preserve"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3103959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1657D0"/>
                </a:solidFill>
                <a:latin typeface="Figtree"/>
              </a:rPr>
              <a:t xml:space="preserve">QUÉ CONSTRUIMOS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4410967"/>
            <a:ext cx="5181600" cy="24074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590"/>
              </a:lnSpc>
            </a:pPr>
            <a:r>
              <a:rPr sz="4500" b="1" spc="-135">
                <a:solidFill>
                  <a:srgbClr val="0A1B33"/>
                </a:solidFill>
                <a:latin typeface="Bricolage Grotesque"/>
              </a:rPr>
              <a:t xml:space="preserve">Una ficha</a:t>
            </a:r>
          </a:p>
          <a:p>
            <a:pPr algn="l">
              <a:lnSpc>
                <a:spcPts val="4590"/>
              </a:lnSpc>
            </a:pPr>
            <a:r>
              <a:rPr sz="4500" b="1" spc="-135">
                <a:solidFill>
                  <a:srgbClr val="0A1B33"/>
                </a:solidFill>
                <a:latin typeface="Bricolage Grotesque"/>
              </a:rPr>
              <a:t xml:space="preserve">propia para</a:t>
            </a:r>
          </a:p>
          <a:p>
            <a:pPr algn="l">
              <a:lnSpc>
                <a:spcPts val="4590"/>
              </a:lnSpc>
            </a:pPr>
            <a:r>
              <a:rPr sz="4500" b="1" spc="-135">
                <a:solidFill>
                  <a:srgbClr val="0A1B33"/>
                </a:solidFill>
                <a:latin typeface="Bricolage Grotesque"/>
              </a:rPr>
              <a:t xml:space="preserve">cada </a:t>
            </a:r>
            <a:r>
              <a:rPr sz="4500" b="1" spc="-135">
                <a:solidFill>
                  <a:srgbClr val="1657D0"/>
                </a:solidFill>
                <a:latin typeface="Bricolage Grotesque"/>
              </a:rPr>
              <a:t xml:space="preserve">tipo de</a:t>
            </a:r>
          </a:p>
          <a:p>
            <a:pPr algn="l">
              <a:lnSpc>
                <a:spcPts val="4590"/>
              </a:lnSpc>
            </a:pPr>
            <a:r>
              <a:rPr sz="4500" b="1" spc="-135">
                <a:solidFill>
                  <a:srgbClr val="1657D0"/>
                </a:solidFill>
                <a:latin typeface="Bricolage Grotesque"/>
              </a:rPr>
              <a:t xml:space="preserve">cortina</a:t>
            </a:r>
            <a:r>
              <a:rPr sz="4500" b="1" spc="-135">
                <a:solidFill>
                  <a:srgbClr val="0A1B33"/>
                </a:solidFill>
                <a:latin typeface="Bricolage Grotesque"/>
              </a:rPr>
              <a:t xml:space="preserve"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7008911"/>
            <a:ext cx="4667250" cy="13339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1"/>
              </a:lnSpc>
            </a:pPr>
            <a:r>
              <a:rPr sz="2325" b="0">
                <a:solidFill>
                  <a:srgbClr val="46526B"/>
                </a:solidFill>
                <a:latin typeface="Figtree"/>
              </a:rPr>
              <a:t xml:space="preserve">Cada una con su página, su explicación y su botón de consulta.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2909887"/>
            <a:ext cx="3429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09700" y="11682412"/>
            <a:ext cx="3168848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>
                <a:solidFill>
                  <a:srgbClr val="6B7690"/>
                </a:solidFill>
                <a:latin typeface="Figtree"/>
              </a:rPr>
              <a:t xml:space="preserve">tunegocioenlasredes.com.ar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0361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6717" y="11682412"/>
            <a:ext cx="1513433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 spc="283">
                <a:solidFill>
                  <a:srgbClr val="6B7690"/>
                </a:solidFill>
                <a:latin typeface="Figtree"/>
              </a:rPr>
              <a:t xml:space="preserve"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2069901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1657D0"/>
                </a:solidFill>
                <a:latin typeface="Figtree"/>
              </a:rPr>
              <a:t xml:space="preserve">EL DETALLE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036218" y="5605021"/>
            <a:ext cx="1747986" cy="253746"/>
          </a:xfrm>
          <a:prstGeom prst="rect">
            <a:avLst/>
          </a:prstGeom>
          <a:solidFill>
            <a:srgbClr val="A8E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4358878"/>
            <a:ext cx="9182100" cy="22327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La paleta de telas,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para mirar </a:t>
            </a: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antes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de decidir.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858297"/>
            <a:ext cx="8153400" cy="1536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33"/>
              </a:lnSpc>
            </a:pPr>
            <a:r>
              <a:rPr sz="2700" b="0">
                <a:solidFill>
                  <a:srgbClr val="46526B"/>
                </a:solidFill>
                <a:latin typeface="Figtree"/>
              </a:rPr>
              <a:t xml:space="preserve">Elegir la tela es la parte que más frena una compra. Ahora se mira en el celular, a las once de la noche, sin nadie esperando una respuesta.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09700" y="11682412"/>
            <a:ext cx="3168848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>
                <a:solidFill>
                  <a:srgbClr val="6B7690"/>
                </a:solidFill>
                <a:latin typeface="Figtree"/>
              </a:rPr>
              <a:t xml:space="preserve">tunegocioenlasredes.com.ar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5570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17135" y="11682412"/>
            <a:ext cx="1503015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 spc="283">
                <a:solidFill>
                  <a:srgbClr val="6B7690"/>
                </a:solidFill>
                <a:latin typeface="Figtree"/>
              </a:rPr>
              <a:t xml:space="preserve"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3730079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1657D0"/>
                </a:solidFill>
                <a:latin typeface="Figtree"/>
              </a:rPr>
              <a:t xml:space="preserve">Y EL PROCESO, ESCRITO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2711797"/>
            <a:ext cx="9182100" cy="22327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Cuatro pasos.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El que entra sabe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qué va a pasar.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5363616"/>
            <a:ext cx="1257300" cy="6194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278"/>
              </a:lnSpc>
            </a:pPr>
            <a:r>
              <a:rPr sz="3450" b="1" spc="-69">
                <a:solidFill>
                  <a:srgbClr val="1657D0"/>
                </a:solidFill>
                <a:latin typeface="Bricolage Grotesque"/>
              </a:rPr>
              <a:t xml:space="preserve"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585644"/>
            <a:ext cx="1257300" cy="6194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278"/>
              </a:lnSpc>
            </a:pPr>
            <a:r>
              <a:rPr sz="3450" b="1" spc="-69">
                <a:solidFill>
                  <a:srgbClr val="1657D0"/>
                </a:solidFill>
                <a:latin typeface="Bricolage Grotesque"/>
              </a:rPr>
              <a:t xml:space="preserve"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7807672"/>
            <a:ext cx="1257300" cy="6194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278"/>
              </a:lnSpc>
            </a:pPr>
            <a:r>
              <a:rPr sz="3450" b="1" spc="-69">
                <a:solidFill>
                  <a:srgbClr val="1657D0"/>
                </a:solidFill>
                <a:latin typeface="Bricolage Grotesque"/>
              </a:rPr>
              <a:t xml:space="preserve"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9029700"/>
            <a:ext cx="1257300" cy="6194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278"/>
              </a:lnSpc>
            </a:pPr>
            <a:r>
              <a:rPr sz="3450" b="1" spc="-69">
                <a:solidFill>
                  <a:srgbClr val="1657D0"/>
                </a:solidFill>
                <a:latin typeface="Bricolage Grotesque"/>
              </a:rPr>
              <a:t xml:space="preserve"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1650" y="5439816"/>
            <a:ext cx="3077319" cy="514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33"/>
              </a:lnSpc>
            </a:pPr>
            <a:r>
              <a:rPr sz="2850" b="1">
                <a:solidFill>
                  <a:srgbClr val="0A1B33"/>
                </a:solidFill>
                <a:latin typeface="Figtree"/>
              </a:rPr>
              <a:t xml:space="preserve">Asesoramiento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1650" y="6661844"/>
            <a:ext cx="2100857" cy="514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33"/>
              </a:lnSpc>
            </a:pPr>
            <a:r>
              <a:rPr sz="2850" b="1">
                <a:solidFill>
                  <a:srgbClr val="0A1B33"/>
                </a:solidFill>
                <a:latin typeface="Figtree"/>
              </a:rPr>
              <a:t xml:space="preserve">Medición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71650" y="7883872"/>
            <a:ext cx="2508795" cy="514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33"/>
              </a:lnSpc>
            </a:pPr>
            <a:r>
              <a:rPr sz="2850" b="1">
                <a:solidFill>
                  <a:srgbClr val="0A1B33"/>
                </a:solidFill>
                <a:latin typeface="Figtree"/>
              </a:rPr>
              <a:t xml:space="preserve">Fabricación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1650" y="9105900"/>
            <a:ext cx="2442567" cy="514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33"/>
              </a:lnSpc>
            </a:pPr>
            <a:r>
              <a:rPr sz="2850" b="1">
                <a:solidFill>
                  <a:srgbClr val="0A1B33"/>
                </a:solidFill>
                <a:latin typeface="Figtree"/>
              </a:rPr>
              <a:t xml:space="preserve">Colocación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1650" y="5945683"/>
            <a:ext cx="4097982" cy="430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90"/>
              </a:lnSpc>
            </a:pPr>
            <a:r>
              <a:rPr sz="2250" b="0">
                <a:solidFill>
                  <a:srgbClr val="46526B"/>
                </a:solidFill>
                <a:latin typeface="Figtree"/>
              </a:rPr>
              <a:t xml:space="preserve">Qué cortina va en ese ambiente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1650" y="7167711"/>
            <a:ext cx="2673250" cy="430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90"/>
              </a:lnSpc>
            </a:pPr>
            <a:r>
              <a:rPr sz="2250" b="0">
                <a:solidFill>
                  <a:srgbClr val="46526B"/>
                </a:solidFill>
                <a:latin typeface="Figtree"/>
              </a:rPr>
              <a:t xml:space="preserve">En el lugar, sin cargo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71650" y="8389739"/>
            <a:ext cx="1994445" cy="430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90"/>
              </a:lnSpc>
            </a:pPr>
            <a:r>
              <a:rPr sz="2250" b="0">
                <a:solidFill>
                  <a:srgbClr val="46526B"/>
                </a:solidFill>
                <a:latin typeface="Figtree"/>
              </a:rPr>
              <a:t xml:space="preserve">A medida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71650" y="9611766"/>
            <a:ext cx="1928217" cy="430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90"/>
              </a:lnSpc>
            </a:pPr>
            <a:r>
              <a:rPr sz="2250" b="0">
                <a:solidFill>
                  <a:srgbClr val="46526B"/>
                </a:solidFill>
                <a:latin typeface="Figtree"/>
              </a:rPr>
              <a:t xml:space="preserve">La ponen ellos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09700" y="11682412"/>
            <a:ext cx="3168848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>
                <a:solidFill>
                  <a:srgbClr val="6B7690"/>
                </a:solidFill>
                <a:latin typeface="Figtree"/>
              </a:rPr>
              <a:t xml:space="preserve">tunegocioenlasredes.com.ar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15719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7433" y="11682412"/>
            <a:ext cx="1502866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 spc="283">
                <a:solidFill>
                  <a:srgbClr val="6B7690"/>
                </a:solidFill>
                <a:latin typeface="Figtree"/>
              </a:rPr>
              <a:t xml:space="preserve"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8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2587376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8FD8F5"/>
                </a:solidFill>
                <a:latin typeface="Figtree"/>
              </a:rPr>
              <a:t xml:space="preserve">QUÉ TIENE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4096642"/>
            <a:ext cx="9182100" cy="27573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FFFFFF"/>
                </a:solidFill>
                <a:latin typeface="Bricolage Grotesque"/>
              </a:rPr>
              <a:t xml:space="preserve">La persona llega</a:t>
            </a:r>
          </a:p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FFFFFF"/>
                </a:solidFill>
                <a:latin typeface="Bricolage Grotesque"/>
              </a:rPr>
              <a:t xml:space="preserve">sabiendo qué</a:t>
            </a:r>
          </a:p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63C8F2"/>
                </a:solidFill>
                <a:latin typeface="Bricolage Grotesque"/>
              </a:rPr>
              <a:t xml:space="preserve">producto quiere</a:t>
            </a:r>
            <a:r>
              <a:rPr sz="6900" b="1" spc="-206">
                <a:solidFill>
                  <a:srgbClr val="FFFFFF"/>
                </a:solidFill>
                <a:latin typeface="Bricolage Grotesque"/>
              </a:rPr>
              <a:t xml:space="preserve"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7120681"/>
            <a:ext cx="8153400" cy="1536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33"/>
              </a:lnSpc>
            </a:pPr>
            <a:r>
              <a:rPr sz="2700" b="0">
                <a:solidFill>
                  <a:srgbClr val="B9CFE8"/>
                </a:solidFill>
                <a:latin typeface="Figtree"/>
              </a:rPr>
              <a:t xml:space="preserve">Seis accesos a WhatsApp y el teléfono a la vista en el encabezado. La charla ya no arranca en el paso uno.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09700" y="11682412"/>
            <a:ext cx="3168848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>
                <a:solidFill>
                  <a:srgbClr val="8FA9C8"/>
                </a:solidFill>
                <a:latin typeface="Figtree"/>
              </a:rPr>
              <a:t xml:space="preserve">tunegocioenlasredes.com.ar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18100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8FD8F5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8FD8F5"/>
                </a:solidFill>
                <a:latin typeface="Figtree"/>
              </a:rPr>
              <a:t xml:space="preserve">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22196" y="11682412"/>
            <a:ext cx="1498103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 spc="283">
                <a:solidFill>
                  <a:srgbClr val="8FA9C8"/>
                </a:solidFill>
                <a:latin typeface="Figtree"/>
              </a:rPr>
              <a:t xml:space="preserve"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8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3315592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8FD8F5"/>
                </a:solidFill>
                <a:latin typeface="Figtree"/>
              </a:rPr>
              <a:t xml:space="preserve">¿TE PASA LO MISMO?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3706415"/>
            <a:ext cx="9182100" cy="22327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FFFFFF"/>
                </a:solidFill>
                <a:latin typeface="Bricolage Grotesque"/>
              </a:rPr>
              <a:t xml:space="preserve">¿Cuántas veces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FFFFFF"/>
                </a:solidFill>
                <a:latin typeface="Bricolage Grotesque"/>
              </a:rPr>
              <a:t xml:space="preserve">por semana explicás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FFFFFF"/>
                </a:solidFill>
                <a:latin typeface="Bricolage Grotesque"/>
              </a:rPr>
              <a:t xml:space="preserve">lo </a:t>
            </a:r>
            <a:r>
              <a:rPr sz="5550" b="1" spc="-166">
                <a:solidFill>
                  <a:srgbClr val="63C8F2"/>
                </a:solidFill>
                <a:latin typeface="Bricolage Grotesque"/>
              </a:rPr>
              <a:t xml:space="preserve">mismo</a:t>
            </a:r>
            <a:r>
              <a:rPr sz="5550" b="1" spc="-166">
                <a:solidFill>
                  <a:srgbClr val="FFFFFF"/>
                </a:solidFill>
                <a:latin typeface="Bricolage Grotesque"/>
              </a:rPr>
              <a:t xml:space="preserve"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6205835"/>
            <a:ext cx="8153400" cy="1536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33"/>
              </a:lnSpc>
            </a:pPr>
            <a:r>
              <a:rPr sz="2700" b="0">
                <a:solidFill>
                  <a:srgbClr val="B9CFE8"/>
                </a:solidFill>
                <a:latin typeface="Figtree"/>
              </a:rPr>
              <a:t xml:space="preserve">Si la respuesta te dio un número, eso ya es una página de tu web. Te la mostramos andando en 72 hs, gratis.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200" y="8085385"/>
            <a:ext cx="2595116" cy="885825"/>
          </a:xfrm>
          <a:prstGeom prst="roundRect">
            <a:avLst>
              <a:gd name="adj" fmla="val 50000"/>
            </a:avLst>
          </a:prstGeom>
          <a:solidFill>
            <a:srgbClr val="16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7300" y="8352085"/>
            <a:ext cx="1918841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2250" b="1">
                <a:solidFill>
                  <a:srgbClr val="FFFFFF"/>
                </a:solidFill>
                <a:latin typeface="Figtree"/>
              </a:rPr>
              <a:t xml:space="preserve">Escribinos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09700" y="11682412"/>
            <a:ext cx="3168848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>
                <a:solidFill>
                  <a:srgbClr val="8FA9C8"/>
                </a:solidFill>
                <a:latin typeface="Figtree"/>
              </a:rPr>
              <a:t xml:space="preserve">tunegocioenlasredes.com.ar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11033" y="11682412"/>
            <a:ext cx="1509266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575" b="1" spc="283">
                <a:solidFill>
                  <a:srgbClr val="8FA9C8"/>
                </a:solidFill>
                <a:latin typeface="Figtree"/>
              </a:rPr>
              <a:t xml:space="preserve"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